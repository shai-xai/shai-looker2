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D1D1F"/>
                </a:solidFill>
              </a:rPr>
              <a:t>Pulse element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383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E6E73"/>
                </a:solidFill>
              </a:rPr>
              <a:t>Every element on this deck is native shapes and real text: click any card, edit the copy, change the colours, resize. Nothing is a screenshot unless marked.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E6E73"/>
                </a:solidFill>
              </a:rPr>
              <a:t>Howler Pulse · marketing element kit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Brand colours &amp;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73"/>
                </a:solidFill>
              </a:rPr>
              <a:t>Click a swatch to reuse its fill. Hex values below 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1280160" cy="914400"/>
          </a:xfrm>
          <a:prstGeom prst="roundRect">
            <a:avLst>
              <a:gd name="adj" fmla="val 18000"/>
            </a:avLst>
          </a:prstGeom>
          <a:solidFill>
            <a:srgbClr val="FF385C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D1D1F"/>
                </a:solidFill>
              </a:rPr>
              <a:t>Brand pink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05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</a:rPr>
              <a:t>#FF385C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1280160"/>
            <a:ext cx="1280160" cy="9144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47672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D1D1F"/>
                </a:solidFill>
              </a:rPr>
              <a:t>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47672" y="2505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</a:rPr>
              <a:t>#FF6B35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1280160"/>
            <a:ext cx="1280160" cy="91440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D1D1F"/>
                </a:solidFill>
              </a:rPr>
              <a:t>Violet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2505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</a:rPr>
              <a:t>#7C3AED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37176" y="1280160"/>
            <a:ext cx="1280160" cy="914400"/>
          </a:xfrm>
          <a:prstGeom prst="roundRect">
            <a:avLst>
              <a:gd name="adj" fmla="val 18000"/>
            </a:avLst>
          </a:prstGeom>
          <a:solidFill>
            <a:srgbClr val="1D1D1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7176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D1D1F"/>
                </a:solidFill>
              </a:rPr>
              <a:t>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2505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</a:rPr>
              <a:t>#1D1D1F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1280160"/>
            <a:ext cx="1280160" cy="914400"/>
          </a:xfrm>
          <a:prstGeom prst="roundRect">
            <a:avLst>
              <a:gd name="adj" fmla="val 18000"/>
            </a:avLst>
          </a:prstGeom>
          <a:solidFill>
            <a:srgbClr val="6E6E73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D1D1F"/>
                </a:solidFill>
              </a:rPr>
              <a:t>Muted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505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</a:rPr>
              <a:t>#6E6E73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80" y="1280160"/>
            <a:ext cx="1280160" cy="914400"/>
          </a:xfrm>
          <a:prstGeom prst="roundRect">
            <a:avLst>
              <a:gd name="adj" fmla="val 18000"/>
            </a:avLst>
          </a:prstGeom>
          <a:solidFill>
            <a:srgbClr val="ECECE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D1D1F"/>
                </a:solidFill>
              </a:rPr>
              <a:t>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2505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</a:rPr>
              <a:t>#ECECEF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71432" y="1280160"/>
            <a:ext cx="1280160" cy="914400"/>
          </a:xfrm>
          <a:prstGeom prst="roundRect">
            <a:avLst>
              <a:gd name="adj" fmla="val 18000"/>
            </a:avLst>
          </a:prstGeom>
          <a:solidFill>
            <a:srgbClr val="F7F7F9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D1D1F"/>
                </a:solidFill>
              </a:rPr>
              <a:t>Soft bg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505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</a:rPr>
              <a:t>#F7F7F9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16184" y="1280160"/>
            <a:ext cx="1280160" cy="914400"/>
          </a:xfrm>
          <a:prstGeom prst="roundRect">
            <a:avLst>
              <a:gd name="adj" fmla="val 18000"/>
            </a:avLst>
          </a:prstGeom>
          <a:solidFill>
            <a:srgbClr val="0A8F5B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16184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D1D1F"/>
                </a:solidFill>
              </a:rPr>
              <a:t>Success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6184" y="2505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</a:rPr>
              <a:t>#0A8F5B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2918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D1D1F"/>
                </a:solidFill>
              </a:rPr>
              <a:t>Your event's data, finally working for you.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385C"/>
                </a:solidFill>
              </a:rPr>
              <a:t>EYEBROW STYLE · 12px bold caps, brand pink, letterspaced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4480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D1D1F"/>
                </a:solidFill>
              </a:rPr>
              <a:t>Body: The future of event intelligence is here. Pulse turns your ticketing, cashless and web data into insight, action and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Buttons &amp; pills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73"/>
                </a:solidFill>
              </a:rPr>
              <a:t>All editable: change the text, keep the shape.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Request a live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371600"/>
            <a:ext cx="21945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See it in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716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See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E6E73"/>
                </a:solidFill>
              </a:rPr>
              <a:t>Primary · ghost · solid dark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50" b="1">
                <a:solidFill>
                  <a:srgbClr val="7C3AED"/>
                </a:solidFill>
                <a:latin typeface="Arial"/>
              </a:rPr>
              <a:t>Howler is the Experience OS for live events. Pulse is its flagship.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7432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7C3AED"/>
                </a:solidFill>
                <a:latin typeface="Courier New"/>
              </a:rPr>
              <a:t>COMING SOON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3337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E6E73"/>
                </a:solidFill>
              </a:rPr>
              <a:t>Kicker pill · coming-soon pill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319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D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0A8F5B"/>
                </a:solidFill>
                <a:latin typeface="Arial"/>
              </a:rPr>
              <a:t>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39319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7C3AED"/>
                </a:solidFill>
                <a:latin typeface="Arial"/>
              </a:rPr>
              <a:t>beta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9319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FDE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B45309"/>
                </a:solidFill>
                <a:latin typeface="Arial"/>
              </a:rPr>
              <a:t>needs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9319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F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6E6E73"/>
                </a:solidFill>
                <a:latin typeface="Arial"/>
              </a:rPr>
              <a:t>soon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E6E73"/>
                </a:solidFill>
              </a:rPr>
              <a:t>Status pills: live · beta · needs setup · soon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Alerts &amp; Owl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73"/>
                </a:solidFill>
              </a:rPr>
              <a:t>The toast that lands in the demo, and the Owl suggestion bar.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/>
          <a:lstStyle/>
          <a:p>
            <a:pPr algn="ctr"/>
            <a:r>
              <a:rPr sz="800" b="1">
                <a:solidFill>
                  <a:srgbClr val="6E6E73"/>
                </a:solidFill>
                <a:latin typeface="Courier New"/>
              </a:rPr>
              <a:t>LIVE ALERT</a:t>
            </a:r>
          </a:p>
          <a:p>
            <a:r>
              <a:rPr sz="1200">
                <a:solidFill>
                  <a:srgbClr val="1D1D1F"/>
                </a:solidFill>
              </a:rPr>
              <a:t>GA Phase 1: 92% sold · sell-out projected 19:40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82296" cy="914400"/>
          </a:xfrm>
          <a:prstGeom prst="roundRect">
            <a:avLst>
              <a:gd name="adj" fmla="val 5000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834640"/>
            <a:ext cx="6949440" cy="960120"/>
          </a:xfrm>
          <a:prstGeom prst="roundRect">
            <a:avLst>
              <a:gd name="adj" fmla="val 14000"/>
            </a:avLst>
          </a:prstGeom>
          <a:solidFill>
            <a:srgbClr val="F3EFFD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/>
          <a:lstStyle/>
          <a:p>
            <a:pPr algn="ctr"/>
            <a:r>
              <a:rPr sz="1200" b="1">
                <a:solidFill>
                  <a:srgbClr val="1D1D1F"/>
                </a:solidFill>
              </a:rPr>
              <a:t>🦉 Owl insight: </a:t>
            </a:r>
            <a:r>
              <a:rPr sz="1200">
                <a:solidFill>
                  <a:srgbClr val="1D1D1F"/>
                </a:solidFill>
              </a:rPr>
              <a:t>you're at 17 812 of your 18 000 North Star (99%). The 3 396 abandoned carts are your fastest path to sell-out: 188 recoveries closes the goal. Draft the recovery drip?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Journey tree · the Owl builds a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73"/>
                </a:solidFill>
              </a:rPr>
              <a:t>Every node is a shape + text. Recolour, rewire, rename.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234440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320">
            <a:solidFill>
              <a:srgbClr val="FF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1D1F"/>
                </a:solidFill>
              </a:rPr>
              <a:t>🛒 Cart abandoned</a:t>
            </a:r>
            <a:r>
              <a:rPr sz="1000">
                <a:solidFill>
                  <a:srgbClr val="6E6E73"/>
                </a:solidFill>
                <a:latin typeface="Courier New"/>
              </a:rPr>
              <a:t>   3 396 enrolled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709928"/>
            <a:ext cx="0" cy="301752"/>
          </a:xfrm>
          <a:prstGeom prst="line">
            <a:avLst/>
          </a:prstGeom>
          <a:ln w="20320">
            <a:solidFill>
              <a:srgbClr val="C9C9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800600" y="201168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1D1F"/>
                </a:solidFill>
              </a:rPr>
              <a:t>✉️ Reminder email</a:t>
            </a:r>
            <a:r>
              <a:rPr sz="1000">
                <a:solidFill>
                  <a:srgbClr val="6E6E73"/>
                </a:solidFill>
                <a:latin typeface="Courier New"/>
              </a:rPr>
              <a:t>   step 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487168"/>
            <a:ext cx="0" cy="256032"/>
          </a:xfrm>
          <a:prstGeom prst="line">
            <a:avLst/>
          </a:prstGeom>
          <a:ln w="20320">
            <a:solidFill>
              <a:srgbClr val="C9C9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08960" y="2743200"/>
            <a:ext cx="5943600" cy="0"/>
          </a:xfrm>
          <a:prstGeom prst="line">
            <a:avLst/>
          </a:prstGeom>
          <a:ln w="20320">
            <a:solidFill>
              <a:srgbClr val="C9C9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08960" y="2743200"/>
            <a:ext cx="0" cy="274320"/>
          </a:xfrm>
          <a:prstGeom prst="line">
            <a:avLst/>
          </a:prstGeom>
          <a:ln w="20320">
            <a:solidFill>
              <a:srgbClr val="C9C9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2743200"/>
            <a:ext cx="0" cy="274320"/>
          </a:xfrm>
          <a:prstGeom prst="line">
            <a:avLst/>
          </a:prstGeom>
          <a:ln w="20320">
            <a:solidFill>
              <a:srgbClr val="C9C9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0" y="30632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0A8F5B"/>
                </a:solidFill>
                <a:latin typeface="Courier New"/>
              </a:rPr>
              <a:t>opened · 58%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F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6E6E73"/>
                </a:solidFill>
                <a:latin typeface="Courier New"/>
              </a:rPr>
              <a:t>no open · 42%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61188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1D1F"/>
                </a:solidFill>
              </a:rPr>
              <a:t>📲 +4h · SMS promo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61188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1D1F"/>
                </a:solidFill>
              </a:rPr>
              <a:t>✉️ +24h · nudge email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4087368"/>
            <a:ext cx="0" cy="256032"/>
          </a:xfrm>
          <a:prstGeom prst="line">
            <a:avLst/>
          </a:prstGeom>
          <a:ln w="20320">
            <a:solidFill>
              <a:srgbClr val="C9C9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52560" y="4087368"/>
            <a:ext cx="0" cy="256032"/>
          </a:xfrm>
          <a:prstGeom prst="line">
            <a:avLst/>
          </a:prstGeom>
          <a:ln w="20320">
            <a:solidFill>
              <a:srgbClr val="C9C9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08960" y="4343400"/>
            <a:ext cx="5943600" cy="0"/>
          </a:xfrm>
          <a:prstGeom prst="line">
            <a:avLst/>
          </a:prstGeom>
          <a:ln w="20320">
            <a:solidFill>
              <a:srgbClr val="C9C9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4343400"/>
            <a:ext cx="0" cy="274320"/>
          </a:xfrm>
          <a:prstGeom prst="line">
            <a:avLst/>
          </a:prstGeom>
          <a:ln w="20320">
            <a:solidFill>
              <a:srgbClr val="C9C9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43400" y="4617720"/>
            <a:ext cx="3474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32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8F5B"/>
                </a:solidFill>
              </a:rPr>
              <a:t>✓ Purchase → auto-exit</a:t>
            </a:r>
            <a:r>
              <a:rPr sz="1000">
                <a:solidFill>
                  <a:srgbClr val="6E6E73"/>
                </a:solidFill>
                <a:latin typeface="Courier New"/>
              </a:rPr>
              <a:t>   188 closes the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E6E73"/>
                </a:solidFill>
              </a:rPr>
              <a:t>State chip: journey live · awaiting your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Finger on the Pulse tiles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73"/>
                </a:solidFill>
              </a:rPr>
              <a:t>Editable versions: ring, bell, mail + briefing, badge.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2651760" cy="310896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1371600" y="1600200"/>
            <a:ext cx="960120" cy="960120"/>
          </a:xfrm>
          <a:prstGeom prst="donut">
            <a:avLst>
              <a:gd name="adj" fmla="val 1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38528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D1D1F"/>
                </a:solidFill>
              </a:rPr>
              <a:t>99%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1D1D1F"/>
                </a:solidFill>
              </a:rPr>
              <a:t>🎯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E6E73"/>
                </a:solidFill>
              </a:rPr>
              <a:t>Set the target once. Every screen shows ahead, on track or behind.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651760" cy="310896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1D1D1F"/>
                </a:solidFill>
              </a:rPr>
              <a:t>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3774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D1D1F"/>
                </a:solidFill>
                <a:latin typeface="Arial"/>
              </a:rPr>
              <a:t>🎯 18 000 tickets reached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1D1D1F"/>
                </a:solidFill>
              </a:rPr>
              <a:t>🔔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E6E73"/>
                </a:solidFill>
              </a:rPr>
              <a:t>A tap on the shoulder the moment a number matters.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80160"/>
            <a:ext cx="2651760" cy="310896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0840" y="1828800"/>
            <a:ext cx="1005840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6720840" y="1828800"/>
            <a:ext cx="1005840" cy="365760"/>
          </a:xfrm>
          <a:prstGeom prst="triangle">
            <a:avLst/>
          </a:prstGeom>
          <a:solidFill>
            <a:srgbClr val="F7F7F9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09560" y="1691640"/>
            <a:ext cx="56692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82712" y="1783080"/>
            <a:ext cx="320040" cy="64008"/>
          </a:xfrm>
          <a:prstGeom prst="roundRect">
            <a:avLst>
              <a:gd name="adj" fmla="val 5000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82712" y="1938528"/>
            <a:ext cx="411480" cy="45720"/>
          </a:xfrm>
          <a:prstGeom prst="roundRect">
            <a:avLst>
              <a:gd name="adj" fmla="val 50000"/>
            </a:avLst>
          </a:prstGeom>
          <a:solidFill>
            <a:srgbClr val="E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82712" y="2066543"/>
            <a:ext cx="365760" cy="45720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0" y="1417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Friday · 07:00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80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D1D1F"/>
                </a:solidFill>
              </a:rPr>
              <a:t>✉️📰 Digests / Briefings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E6E73"/>
                </a:solidFill>
              </a:rPr>
              <a:t>Scheduled digests and the Owl’s written briefing, in the right inbox.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280160"/>
            <a:ext cx="2651760" cy="310896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ogo-pulse-app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645920"/>
            <a:ext cx="822960" cy="8229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10835640" y="1508760"/>
            <a:ext cx="365760" cy="365760"/>
          </a:xfrm>
          <a:prstGeom prst="ellipse">
            <a:avLst/>
          </a:prstGeom>
          <a:solidFill>
            <a:srgbClr val="FF3B3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1D1D1F"/>
                </a:solidFill>
              </a:rPr>
              <a:t>📱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246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E6E73"/>
                </a:solidFill>
              </a:rPr>
              <a:t>Pulse pings your phone even when the app is closed.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Marketing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73"/>
                </a:solidFill>
              </a:rPr>
              <a:t>Phase chips + audience sync pop.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Arial"/>
              </a:rPr>
              <a:t>Announce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1737360"/>
            <a:ext cx="274319" cy="0"/>
          </a:xfrm>
          <a:prstGeom prst="line">
            <a:avLst/>
          </a:prstGeom>
          <a:ln w="19050">
            <a:solidFill>
              <a:srgbClr val="6E6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77439" y="146304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Arial"/>
              </a:rPr>
              <a:t>Pre-sale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1737360"/>
            <a:ext cx="274320" cy="0"/>
          </a:xfrm>
          <a:prstGeom prst="line">
            <a:avLst/>
          </a:prstGeom>
          <a:ln w="19050">
            <a:solidFill>
              <a:srgbClr val="6E6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59" y="146304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Arial"/>
              </a:rPr>
              <a:t>On-sale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59" y="1737360"/>
            <a:ext cx="274320" cy="0"/>
          </a:xfrm>
          <a:prstGeom prst="line">
            <a:avLst/>
          </a:prstGeom>
          <a:ln w="19050">
            <a:solidFill>
              <a:srgbClr val="6E6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26479" y="146304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Arial"/>
              </a:rPr>
              <a:t>Event week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6679" y="1737360"/>
            <a:ext cx="274321" cy="0"/>
          </a:xfrm>
          <a:prstGeom prst="line">
            <a:avLst/>
          </a:prstGeom>
          <a:ln w="19050">
            <a:solidFill>
              <a:srgbClr val="6E6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01000" y="146304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Arial"/>
              </a:rPr>
              <a:t>Live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0" y="1737360"/>
            <a:ext cx="274320" cy="0"/>
          </a:xfrm>
          <a:prstGeom prst="line">
            <a:avLst/>
          </a:prstGeom>
          <a:ln w="19050">
            <a:solidFill>
              <a:srgbClr val="6E6E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75520" y="146304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1D1D1F"/>
                </a:solidFill>
                <a:latin typeface="Arial"/>
              </a:rPr>
              <a:t>Wrap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468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50" b="1">
                <a:solidFill>
                  <a:srgbClr val="0A8F5B"/>
                </a:solidFill>
                <a:latin typeface="Courier New"/>
              </a:rPr>
              <a:t>Meta · 3 396 synced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4688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D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50" b="1">
                <a:solidFill>
                  <a:srgbClr val="0A8F5B"/>
                </a:solidFill>
                <a:latin typeface="Courier New"/>
              </a:rPr>
              <a:t>TikTok · 2 118 synced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Owl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73"/>
                </a:solidFill>
              </a:rPr>
              <a:t>Dark chips with the real platform marks (icons are images; swap freely).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468880" cy="2011680"/>
          </a:xfrm>
          <a:prstGeom prst="roundRect">
            <a:avLst>
              <a:gd name="adj" fmla="val 12000"/>
            </a:avLst>
          </a:prstGeom>
          <a:solidFill>
            <a:srgbClr val="17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pulse-app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783080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6974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Pulse Web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2011680"/>
          </a:xfrm>
          <a:prstGeom prst="roundRect">
            <a:avLst>
              <a:gd name="adj" fmla="val 12000"/>
            </a:avLst>
          </a:prstGeom>
          <a:solidFill>
            <a:srgbClr val="17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whatsapp-white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8308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74720" y="26974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WhatsApp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2468880" cy="2011680"/>
          </a:xfrm>
          <a:prstGeom prst="roundRect">
            <a:avLst>
              <a:gd name="adj" fmla="val 12000"/>
            </a:avLst>
          </a:prstGeom>
          <a:solidFill>
            <a:srgbClr val="17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chatgpt-white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78308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26974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63040"/>
            <a:ext cx="2468880" cy="2011680"/>
          </a:xfrm>
          <a:prstGeom prst="roundRect">
            <a:avLst>
              <a:gd name="adj" fmla="val 12000"/>
            </a:avLst>
          </a:prstGeom>
          <a:solidFill>
            <a:srgbClr val="17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claude-white-5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1783080"/>
            <a:ext cx="731520" cy="731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0" y="26974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E6E73"/>
                </a:solidFill>
              </a:rPr>
              <a:t>Also: TikTok / Meta / Google Cloud marks in the icon set (dark + white, SVG and PNG).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The honest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73"/>
                </a:solidFill>
              </a:rPr>
              <a:t>A real table: edit cells directly.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389120"/>
              </a:tblGrid>
              <a:tr h="7680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If you’re using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The gap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Pulse changes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1D1F"/>
                          </a:solidFill>
                        </a:rPr>
                        <a:t>Looker / Tableau</a:t>
                      </a:r>
                    </a:p>
                  </a:txBody>
                  <a:tcPr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D1F"/>
                          </a:solidFill>
                        </a:rPr>
                        <a:t>You see the problem, then export a CSV and switch tools.</a:t>
                      </a:r>
                    </a:p>
                  </a:txBody>
                  <a:tcPr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D1F"/>
                          </a:solidFill>
                        </a:rPr>
                        <a:t>See it and act on it in the same governed place.</a:t>
                      </a:r>
                    </a:p>
                  </a:txBody>
                  <a:tcPr>
                    <a:solidFill>
                      <a:srgbClr val="F7F7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1D1F"/>
                          </a:solidFill>
                        </a:rPr>
                        <a:t>Mailchimp / Klaviyo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D1F"/>
                          </a:solidFill>
                        </a:rPr>
                        <a:t>Audiences go stale the moment you upload them.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D1F"/>
                          </a:solidFill>
                        </a:rPr>
                        <a:t>Audiences built from live data, re-resolved at send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1D1F"/>
                          </a:solidFill>
                        </a:rPr>
                        <a:t>Email + WhatsApp threads</a:t>
                      </a:r>
                    </a:p>
                  </a:txBody>
                  <a:tcPr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D1F"/>
                          </a:solidFill>
                        </a:rPr>
                        <a:t>Approvals and settlements get lost.</a:t>
                      </a:r>
                    </a:p>
                  </a:txBody>
                  <a:tcPr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D1F"/>
                          </a:solidFill>
                        </a:rPr>
                        <a:t>One inbox with read/ack trails; settlements file themselves.</a:t>
                      </a:r>
                    </a:p>
                  </a:txBody>
                  <a:tcPr>
                    <a:solidFill>
                      <a:srgbClr val="F7F7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1D1F"/>
                          </a:solidFill>
                        </a:rPr>
                        <a:t>Gut feel on event night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D1F"/>
                          </a:solidFill>
                        </a:rPr>
                        <a:t>You find out about problems when the queue does.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D1F"/>
                          </a:solidFill>
                        </a:rPr>
                        <a:t>Live ops board, alerts, a mini report every 30 minutes.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Device 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73"/>
                </a:solidFill>
              </a:rPr>
              <a:t>Browser + phone shells are shapes; the screens inside are real app screenshots (swap the image, keep the shell).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694944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6949440" cy="457200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89888"/>
            <a:ext cx="128016" cy="128016"/>
          </a:xfrm>
          <a:prstGeom prst="ellipse">
            <a:avLst/>
          </a:prstGeom>
          <a:solidFill>
            <a:srgbClr val="E0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389888"/>
            <a:ext cx="128016" cy="128016"/>
          </a:xfrm>
          <a:prstGeom prst="ellipse">
            <a:avLst/>
          </a:prstGeom>
          <a:solidFill>
            <a:srgbClr val="E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1389888"/>
            <a:ext cx="128016" cy="128016"/>
          </a:xfrm>
          <a:prstGeom prst="ellipse">
            <a:avLst/>
          </a:prstGeom>
          <a:solidFill>
            <a:srgbClr val="E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3167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E6E73"/>
                </a:solidFill>
              </a:rPr>
              <a:t>pulse.howler.co.za/d/live</a:t>
            </a:r>
          </a:p>
        </p:txBody>
      </p:sp>
      <p:pic>
        <p:nvPicPr>
          <p:cNvPr id="10" name="Picture 9" descr="app-desktop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55648"/>
            <a:ext cx="6821424" cy="454554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2377440" cy="5074920"/>
          </a:xfrm>
          <a:prstGeom prst="roundRect">
            <a:avLst>
              <a:gd name="adj" fmla="val 16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-mobile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1371600"/>
            <a:ext cx="2157984" cy="4672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181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E6E73"/>
                </a:solidFill>
              </a:rPr>
              <a:t>Swap screenshots via right-click → Replace image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1D1F"/>
                </a:solidFill>
              </a:rPr>
              <a:t>Headline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E6E73"/>
                </a:solidFill>
              </a:rPr>
              <a:t>The hero, as editable 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5760720" cy="457200"/>
          </a:xfrm>
          <a:prstGeom prst="roundRect">
            <a:avLst>
              <a:gd name="adj" fmla="val 50000"/>
            </a:avLst>
          </a:prstGeom>
          <a:solidFill>
            <a:srgbClr val="EA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50" b="1">
                <a:solidFill>
                  <a:srgbClr val="7C3AED"/>
                </a:solidFill>
                <a:latin typeface="Arial"/>
              </a:rPr>
              <a:t>Howler is the Experience OS for live events. Pulse is its flagship.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D1D1F"/>
                </a:solidFill>
              </a:rPr>
              <a:t>Your event's data,
</a:t>
            </a:r>
            <a:r>
              <a:rPr sz="4000" b="1">
                <a:solidFill>
                  <a:srgbClr val="FF385C"/>
                </a:solidFill>
              </a:rPr>
              <a:t>finally working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3A3A3E"/>
                </a:solidFill>
              </a:rPr>
              <a:t>The future of event intelligence is here. Your event intelligence, with you, on every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75488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F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See how it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7548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C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D1D1F"/>
                </a:solidFill>
                <a:latin typeface="Arial"/>
              </a:rPr>
              <a:t>See it in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