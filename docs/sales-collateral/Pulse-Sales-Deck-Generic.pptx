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2984" cy="109728"/>
          </a:xfrm>
          <a:prstGeom prst="rect">
            <a:avLst/>
          </a:prstGeom>
          <a:solidFill>
            <a:srgbClr val="FF385C"/>
          </a:solidFill>
          <a:ln/>
        </p:spPr>
      </p:sp>
      <p:sp>
        <p:nvSpPr>
          <p:cNvPr id="3" name="Shape 1"/>
          <p:cNvSpPr/>
          <p:nvPr/>
        </p:nvSpPr>
        <p:spPr>
          <a:xfrm>
            <a:off x="4062984" y="0"/>
            <a:ext cx="4062984" cy="10972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Shape 2"/>
          <p:cNvSpPr/>
          <p:nvPr/>
        </p:nvSpPr>
        <p:spPr>
          <a:xfrm>
            <a:off x="8125968" y="0"/>
            <a:ext cx="4062984" cy="109728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5" name="Image 0" descr="howler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02920"/>
            <a:ext cx="777240" cy="777240"/>
          </a:xfrm>
          <a:prstGeom prst="ellipse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38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HOWLER PRESENTS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49808" y="173736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Pulse</a:t>
            </a:r>
            <a:pPr indent="0" marL="0">
              <a:buNone/>
            </a:pPr>
            <a:r>
              <a:rPr lang="en-US" sz="8000" b="1" dirty="0">
                <a:solidFill>
                  <a:srgbClr val="FF38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8000" dirty="0"/>
          </a:p>
        </p:txBody>
      </p:sp>
      <p:sp>
        <p:nvSpPr>
          <p:cNvPr id="8" name="Text 5"/>
          <p:cNvSpPr/>
          <p:nvPr/>
        </p:nvSpPr>
        <p:spPr>
          <a:xfrm>
            <a:off x="822960" y="3154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8D4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event’s data, finally working for you.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822960" y="4114800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A9A5C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Howler is the Experience Operating System for live events; Pulse is our new flagship product: live dashboards, an AI analyst, and a full email/SMS campaign engine, all powered by the same governed data. Insight → action → results, in your brand, on your phone.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22960" y="5394960"/>
            <a:ext cx="975360" cy="64008"/>
          </a:xfrm>
          <a:prstGeom prst="rect">
            <a:avLst/>
          </a:prstGeom>
          <a:solidFill>
            <a:srgbClr val="FF385C"/>
          </a:solidFill>
          <a:ln/>
        </p:spPr>
      </p:sp>
      <p:sp>
        <p:nvSpPr>
          <p:cNvPr id="11" name="Shape 8"/>
          <p:cNvSpPr/>
          <p:nvPr/>
        </p:nvSpPr>
        <p:spPr>
          <a:xfrm>
            <a:off x="1798320" y="5394960"/>
            <a:ext cx="975360" cy="6400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2" name="Shape 9"/>
          <p:cNvSpPr/>
          <p:nvPr/>
        </p:nvSpPr>
        <p:spPr>
          <a:xfrm>
            <a:off x="2773680" y="5394960"/>
            <a:ext cx="975360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" y="5943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A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 deck ·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problem: five tools, zero loop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75488" y="56692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>
                    <a:alpha val="88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event teams work today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051560"/>
            <a:ext cx="4062984" cy="41148"/>
          </a:xfrm>
          <a:prstGeom prst="rect">
            <a:avLst/>
          </a:prstGeom>
          <a:solidFill>
            <a:srgbClr val="FF385C"/>
          </a:solidFill>
          <a:ln/>
        </p:spPr>
      </p:sp>
      <p:sp>
        <p:nvSpPr>
          <p:cNvPr id="6" name="Shape 4"/>
          <p:cNvSpPr/>
          <p:nvPr/>
        </p:nvSpPr>
        <p:spPr>
          <a:xfrm>
            <a:off x="4062984" y="1051560"/>
            <a:ext cx="4062984" cy="4114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Shape 5"/>
          <p:cNvSpPr/>
          <p:nvPr/>
        </p:nvSpPr>
        <p:spPr>
          <a:xfrm>
            <a:off x="8125968" y="1051560"/>
            <a:ext cx="4062984" cy="411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Pulse</a:t>
            </a:r>
            <a:pPr indent="0" marL="0">
              <a:buNone/>
            </a:pPr>
            <a:r>
              <a:rPr lang="en-US" sz="900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flagship of the Howler Experience OS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howler-pulse-v2.onrender.com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46304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BFAFF"/>
          </a:solidFill>
          <a:ln w="12700">
            <a:solidFill>
              <a:srgbClr val="ECE9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160020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 The BI tool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205740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Shows you the problem, then leaves. Acting on it means exporting a CSV and switching apps.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72200" y="146304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BFAFF"/>
          </a:solidFill>
          <a:ln w="12700">
            <a:solidFill>
              <a:srgbClr val="ECE9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160020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📧  The email tool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0" y="205740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Audiences go stale the moment you upload them. No connection to live ticket sales.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356616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BFAFF"/>
          </a:solidFill>
          <a:ln w="12700">
            <a:solidFill>
              <a:srgbClr val="ECE9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70332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💬  The WhatsApp threads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5800" y="416052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Approvals, settlements and "did you see this?" scattered and lost across chats.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72200" y="356616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BFAFF"/>
          </a:solidFill>
          <a:ln w="12700">
            <a:solidFill>
              <a:srgbClr val="ECE9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370332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🌙  Event night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00800" y="416052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find out about the problem when the queue does, or the morning after.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57150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38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tool sees a slice. Nobody sees the loop, and the data never learns.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FF38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Pulse is one loop that never stops turning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75488" y="56692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>
                    <a:alpha val="88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insight → action → results → improvement, on repeat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051560"/>
            <a:ext cx="4062984" cy="41148"/>
          </a:xfrm>
          <a:prstGeom prst="rect">
            <a:avLst/>
          </a:prstGeom>
          <a:solidFill>
            <a:srgbClr val="FF385C"/>
          </a:solidFill>
          <a:ln/>
        </p:spPr>
      </p:sp>
      <p:sp>
        <p:nvSpPr>
          <p:cNvPr id="6" name="Shape 4"/>
          <p:cNvSpPr/>
          <p:nvPr/>
        </p:nvSpPr>
        <p:spPr>
          <a:xfrm>
            <a:off x="4062984" y="1051560"/>
            <a:ext cx="4062984" cy="4114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Shape 5"/>
          <p:cNvSpPr/>
          <p:nvPr/>
        </p:nvSpPr>
        <p:spPr>
          <a:xfrm>
            <a:off x="8125968" y="1051560"/>
            <a:ext cx="4062984" cy="411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Pulse</a:t>
            </a:r>
            <a:pPr indent="0" marL="0">
              <a:buNone/>
            </a:pPr>
            <a:r>
              <a:rPr lang="en-US" sz="900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flagship of the Howler Experience OS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howler-pulse-v2.onrender.com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1737360"/>
            <a:ext cx="2148840" cy="3017520"/>
          </a:xfrm>
          <a:prstGeom prst="roundRect">
            <a:avLst>
              <a:gd name="adj" fmla="val 5106"/>
            </a:avLst>
          </a:prstGeom>
          <a:solidFill>
            <a:srgbClr val="FBFAFF"/>
          </a:solidFill>
          <a:ln w="12700">
            <a:solidFill>
              <a:srgbClr val="ECE9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92024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📡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75488" y="2514600"/>
            <a:ext cx="19293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data lands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02920" y="3063240"/>
            <a:ext cx="18745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Ticketing, cashless and GA4 flow in continuously. No exports, no spreadsheets.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697480" y="1737360"/>
            <a:ext cx="2148840" cy="3017520"/>
          </a:xfrm>
          <a:prstGeom prst="roundRect">
            <a:avLst>
              <a:gd name="adj" fmla="val 5106"/>
            </a:avLst>
          </a:prstGeom>
          <a:solidFill>
            <a:srgbClr val="FBFAFF"/>
          </a:solidFill>
          <a:ln w="12700">
            <a:solidFill>
              <a:srgbClr val="ECE9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97480" y="192024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🦉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2807208" y="2514600"/>
            <a:ext cx="19293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Owl reads it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2834640" y="3063240"/>
            <a:ext cx="18745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briefings and digests tell you what changed, and what to do about it.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0" y="1737360"/>
            <a:ext cx="2148840" cy="3017520"/>
          </a:xfrm>
          <a:prstGeom prst="roundRect">
            <a:avLst>
              <a:gd name="adj" fmla="val 5106"/>
            </a:avLst>
          </a:prstGeom>
          <a:solidFill>
            <a:srgbClr val="FBFAFF"/>
          </a:solidFill>
          <a:ln w="12700">
            <a:solidFill>
              <a:srgbClr val="ECE9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192024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138928" y="2514600"/>
            <a:ext cx="19293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act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166360" y="3063240"/>
            <a:ext cx="18745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Turn a suggestion into a branded email/SMS campaign to the exact segment, in a click.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360920" y="1737360"/>
            <a:ext cx="2148840" cy="3017520"/>
          </a:xfrm>
          <a:prstGeom prst="roundRect">
            <a:avLst>
              <a:gd name="adj" fmla="val 5106"/>
            </a:avLst>
          </a:prstGeom>
          <a:solidFill>
            <a:srgbClr val="FBFAFF"/>
          </a:solidFill>
          <a:ln w="12700">
            <a:solidFill>
              <a:srgbClr val="ECE9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60920" y="192024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📈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7470648" y="2514600"/>
            <a:ext cx="19293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Results come back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7498080" y="3063240"/>
            <a:ext cx="18745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Opens, clicks, conversions and revenue tracked per recipient, straight into your dashboards.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692640" y="1737360"/>
            <a:ext cx="2148840" cy="3017520"/>
          </a:xfrm>
          <a:prstGeom prst="roundRect">
            <a:avLst>
              <a:gd name="adj" fmla="val 5106"/>
            </a:avLst>
          </a:prstGeom>
          <a:solidFill>
            <a:srgbClr val="FBFAFF"/>
          </a:solidFill>
          <a:ln w="12700">
            <a:solidFill>
              <a:srgbClr val="ECE9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92640" y="192024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🔁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9802368" y="2514600"/>
            <a:ext cx="19293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loop tightens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9829800" y="3063240"/>
            <a:ext cx="18745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Results shape the next briefing and the next suggested action. Every cycle is sharper.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097280" y="5212080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2D2B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“It’s not dashboards and email and reports, it’s one living loop. The longer you use Pulse, the better it gets.”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FF38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👁  SEE · dashboards &amp; AI insight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75488" y="56692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>
                    <a:alpha val="88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know what’s happening, without digging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051560"/>
            <a:ext cx="4062984" cy="41148"/>
          </a:xfrm>
          <a:prstGeom prst="rect">
            <a:avLst/>
          </a:prstGeom>
          <a:solidFill>
            <a:srgbClr val="FF385C"/>
          </a:solidFill>
          <a:ln/>
        </p:spPr>
      </p:sp>
      <p:sp>
        <p:nvSpPr>
          <p:cNvPr id="6" name="Shape 4"/>
          <p:cNvSpPr/>
          <p:nvPr/>
        </p:nvSpPr>
        <p:spPr>
          <a:xfrm>
            <a:off x="4062984" y="1051560"/>
            <a:ext cx="4062984" cy="4114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Shape 5"/>
          <p:cNvSpPr/>
          <p:nvPr/>
        </p:nvSpPr>
        <p:spPr>
          <a:xfrm>
            <a:off x="8125968" y="1051560"/>
            <a:ext cx="4062984" cy="411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Pulse</a:t>
            </a:r>
            <a:pPr indent="0" marL="0">
              <a:buNone/>
            </a:pPr>
            <a:r>
              <a:rPr lang="en-US" sz="900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flagship of the Howler Experience OS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howler-pulse-v2.onrender.com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137160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dashboards: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KPIs, tables and charts on your real ticketing &amp; GA4 data, with drill-through. Mobile-first, installable as an app.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37744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Per-tile AI insight: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tap any tile and the Owl explains the numbers in plain English, grounded in that data.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38328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Personalised AI briefing: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land on a summary of what matters right now, tailored to what you follow and view.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38912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Goals with pace &amp; forecast: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North Star target on every screen: ahead / on-track / behind vs last event’s real sell-curve, with a projected landing.</a:t>
            </a:r>
            <a:endParaRPr lang="en-US" sz="1200" dirty="0"/>
          </a:p>
        </p:txBody>
      </p:sp>
      <p:pic>
        <p:nvPicPr>
          <p:cNvPr id="15" name="Image 0" descr="dash-gener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1417320"/>
            <a:ext cx="5577840" cy="157276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172200" y="301752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dashboard with the Owl one tap away, every number explained.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6172200" y="3474720"/>
            <a:ext cx="5577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Scheduled digests: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role-specific email briefings (exec / marketing / finance / ops) on your cadence, with charts rendered in the email.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172200" y="4389120"/>
            <a:ext cx="5577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 any insight: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 a finding to email, WhatsApp or Slack in one tap, with a link back to the view.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57200" y="5394960"/>
            <a:ext cx="11338560" cy="777240"/>
          </a:xfrm>
          <a:prstGeom prst="roundRect">
            <a:avLst>
              <a:gd name="adj" fmla="val 11765"/>
            </a:avLst>
          </a:prstGeom>
          <a:solidFill>
            <a:srgbClr val="F6F1FF"/>
          </a:solidFill>
          <a:ln/>
        </p:spPr>
      </p:sp>
      <p:sp>
        <p:nvSpPr>
          <p:cNvPr id="20" name="Text 17"/>
          <p:cNvSpPr/>
          <p:nvPr/>
        </p:nvSpPr>
        <p:spPr>
          <a:xfrm>
            <a:off x="731520" y="5394960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i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“Your data, read for you, open the app and you already know what changed and what to do.”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🦉  ASK · your AI Data Analyst, everywhere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75488" y="56692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>
                    <a:alpha val="88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plain-language answers, only ever from your own data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051560"/>
            <a:ext cx="4062984" cy="41148"/>
          </a:xfrm>
          <a:prstGeom prst="rect">
            <a:avLst/>
          </a:prstGeom>
          <a:solidFill>
            <a:srgbClr val="FF385C"/>
          </a:solidFill>
          <a:ln/>
        </p:spPr>
      </p:sp>
      <p:sp>
        <p:nvSpPr>
          <p:cNvPr id="6" name="Shape 4"/>
          <p:cNvSpPr/>
          <p:nvPr/>
        </p:nvSpPr>
        <p:spPr>
          <a:xfrm>
            <a:off x="4062984" y="1051560"/>
            <a:ext cx="4062984" cy="4114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Shape 5"/>
          <p:cNvSpPr/>
          <p:nvPr/>
        </p:nvSpPr>
        <p:spPr>
          <a:xfrm>
            <a:off x="8125968" y="1051560"/>
            <a:ext cx="4062984" cy="411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Pulse</a:t>
            </a:r>
            <a:pPr indent="0" marL="0">
              <a:buNone/>
            </a:pPr>
            <a:r>
              <a:rPr lang="en-US" sz="900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flagship of the Howler Experience OS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howler-pulse-v2.onrender.com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141732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 the Owl in-app: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“what’s on sale right now?”, “how does this compare to last year?”, conversational answers, scoped to your data.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5146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Owl on WhatsApp: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message it from your own WhatsApp: answers, charts as images, tappable follow-ups, daily updates, even draft a campaign by reply button.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09360" y="141732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Reads your Google Drive: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 budgets, marketing plans or sponsor decks; the Owl answers from them alongside live sales data.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09360" y="25146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Take action by chat: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Owl doesn’t just answer: it can set up an alert, save a segment or draft a campaign straight from the conversation, with a confirm step before anything is created.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023360"/>
            <a:ext cx="11338560" cy="1463040"/>
          </a:xfrm>
          <a:prstGeom prst="roundRect">
            <a:avLst>
              <a:gd name="adj" fmla="val 6250"/>
            </a:avLst>
          </a:prstGeom>
          <a:solidFill>
            <a:srgbClr val="1A1A2E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160520"/>
            <a:ext cx="10607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D8D4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Grounded, always: the Owl quotes your data, it never invents. And it answers only your own events; the scope gate is enforced server-side and cannot be bypassed.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5715000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“Ask your data anything, in plain language, your own analyst, in your pocket.”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brain. Every channel.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75488" y="56692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>
                    <a:alpha val="88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Owl at the centre, the doors your team already uses around it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051560"/>
            <a:ext cx="4062984" cy="41148"/>
          </a:xfrm>
          <a:prstGeom prst="rect">
            <a:avLst/>
          </a:prstGeom>
          <a:solidFill>
            <a:srgbClr val="FF385C"/>
          </a:solidFill>
          <a:ln/>
        </p:spPr>
      </p:sp>
      <p:sp>
        <p:nvSpPr>
          <p:cNvPr id="6" name="Shape 4"/>
          <p:cNvSpPr/>
          <p:nvPr/>
        </p:nvSpPr>
        <p:spPr>
          <a:xfrm>
            <a:off x="4062984" y="1051560"/>
            <a:ext cx="4062984" cy="4114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Shape 5"/>
          <p:cNvSpPr/>
          <p:nvPr/>
        </p:nvSpPr>
        <p:spPr>
          <a:xfrm>
            <a:off x="8125968" y="1051560"/>
            <a:ext cx="4062984" cy="411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Pulse</a:t>
            </a:r>
            <a:pPr indent="0" marL="0">
              <a:buNone/>
            </a:pPr>
            <a:r>
              <a:rPr lang="en-US" sz="900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flagship of the Howler Experience OS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howler-pulse-v2.onrender.com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931920" y="2468880"/>
            <a:ext cx="2157984" cy="1143000"/>
          </a:xfrm>
          <a:prstGeom prst="line">
            <a:avLst/>
          </a:prstGeom>
          <a:noFill/>
          <a:ln w="19050">
            <a:solidFill>
              <a:srgbClr val="D6CDF0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 flipV="1">
            <a:off x="3931920" y="3611880"/>
            <a:ext cx="2157984" cy="1234440"/>
          </a:xfrm>
          <a:prstGeom prst="line">
            <a:avLst/>
          </a:prstGeom>
          <a:noFill/>
          <a:ln w="19050">
            <a:solidFill>
              <a:srgbClr val="D6CDF0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6089904" y="2468880"/>
            <a:ext cx="2167128" cy="1143000"/>
          </a:xfrm>
          <a:prstGeom prst="line">
            <a:avLst/>
          </a:prstGeom>
          <a:noFill/>
          <a:ln w="19050">
            <a:solidFill>
              <a:srgbClr val="D6CDF0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 flipV="1">
            <a:off x="6089904" y="3611880"/>
            <a:ext cx="2167128" cy="1234440"/>
          </a:xfrm>
          <a:prstGeom prst="line">
            <a:avLst/>
          </a:prstGeom>
          <a:noFill/>
          <a:ln w="19050">
            <a:solidFill>
              <a:srgbClr val="D6CDF0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457200" y="1600200"/>
            <a:ext cx="3474720" cy="1737360"/>
          </a:xfrm>
          <a:prstGeom prst="roundRect">
            <a:avLst>
              <a:gd name="adj" fmla="val 6316"/>
            </a:avLst>
          </a:prstGeom>
          <a:solidFill>
            <a:srgbClr val="FBFAFF"/>
          </a:solidFill>
          <a:ln w="12700">
            <a:solidFill>
              <a:srgbClr val="ECE9F5"/>
            </a:solidFill>
            <a:prstDash val="solid"/>
          </a:ln>
        </p:spPr>
      </p:sp>
      <p:pic>
        <p:nvPicPr>
          <p:cNvPr id="16" name="Image 0" descr="howler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728216"/>
            <a:ext cx="310896" cy="31089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987552" y="1691640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Howler Pulse app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21792" y="2103120"/>
            <a:ext cx="31546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Installs like a native app; pushes a nudge even when closed, tap it and you’re in the right place to act.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57200" y="3977640"/>
            <a:ext cx="3474720" cy="1737360"/>
          </a:xfrm>
          <a:prstGeom prst="roundRect">
            <a:avLst>
              <a:gd name="adj" fmla="val 6316"/>
            </a:avLst>
          </a:prstGeom>
          <a:solidFill>
            <a:srgbClr val="FBFAFF"/>
          </a:solidFill>
          <a:ln w="12700">
            <a:solidFill>
              <a:srgbClr val="ECE9F5"/>
            </a:solidFill>
            <a:prstDash val="solid"/>
          </a:ln>
        </p:spPr>
      </p:sp>
      <p:pic>
        <p:nvPicPr>
          <p:cNvPr id="20" name="Image 1" descr="whatsapp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4105656"/>
            <a:ext cx="310896" cy="310896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987552" y="4069080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WhatsApp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621792" y="4480560"/>
            <a:ext cx="31546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Message the Owl like a colleague: answers, charts as images, daily updates, event-night reports.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8257032" y="1600200"/>
            <a:ext cx="3474720" cy="1737360"/>
          </a:xfrm>
          <a:prstGeom prst="roundRect">
            <a:avLst>
              <a:gd name="adj" fmla="val 6316"/>
            </a:avLst>
          </a:prstGeom>
          <a:solidFill>
            <a:srgbClr val="FBFAFF"/>
          </a:solidFill>
          <a:ln w="12700">
            <a:solidFill>
              <a:srgbClr val="ECE9F5"/>
            </a:solidFill>
            <a:prstDash val="solid"/>
          </a:ln>
        </p:spPr>
      </p:sp>
      <p:pic>
        <p:nvPicPr>
          <p:cNvPr id="24" name="Image 2" descr="chatgpt-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1624" y="1728216"/>
            <a:ext cx="310896" cy="310896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787384" y="1691640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ChatGPT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8421624" y="2103120"/>
            <a:ext cx="31546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 Pulse to ChatGPT (incl. Deep Research) and ask about your events from the tool you already have open.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8257032" y="3977640"/>
            <a:ext cx="3474720" cy="1737360"/>
          </a:xfrm>
          <a:prstGeom prst="roundRect">
            <a:avLst>
              <a:gd name="adj" fmla="val 6316"/>
            </a:avLst>
          </a:prstGeom>
          <a:solidFill>
            <a:srgbClr val="FBFAFF"/>
          </a:solidFill>
          <a:ln w="12700">
            <a:solidFill>
              <a:srgbClr val="ECE9F5"/>
            </a:solidFill>
            <a:prstDash val="solid"/>
          </a:ln>
        </p:spPr>
      </p:sp>
      <p:pic>
        <p:nvPicPr>
          <p:cNvPr id="28" name="Image 3" descr="claude-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1624" y="4105656"/>
            <a:ext cx="310896" cy="310896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8787384" y="4069080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Claude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8421624" y="4480560"/>
            <a:ext cx="31546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same connector plugs your event data into Claude, read-only, per-client keys you control.</a:t>
            </a:r>
            <a:endParaRPr lang="en-US" sz="1050" dirty="0"/>
          </a:p>
        </p:txBody>
      </p:sp>
      <p:pic>
        <p:nvPicPr>
          <p:cNvPr id="31" name="Image 4" descr="owl-mar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6048" y="2331720"/>
            <a:ext cx="2286000" cy="2286000"/>
          </a:xfrm>
          <a:prstGeom prst="rect">
            <a:avLst/>
          </a:prstGeom>
        </p:spPr>
      </p:pic>
      <p:sp>
        <p:nvSpPr>
          <p:cNvPr id="32" name="Shape 25"/>
          <p:cNvSpPr/>
          <p:nvPr/>
        </p:nvSpPr>
        <p:spPr>
          <a:xfrm>
            <a:off x="4681728" y="4754880"/>
            <a:ext cx="2834640" cy="402336"/>
          </a:xfrm>
          <a:prstGeom prst="roundRect">
            <a:avLst>
              <a:gd name="adj" fmla="val 50000"/>
            </a:avLst>
          </a:prstGeom>
          <a:solidFill>
            <a:srgbClr val="1A1A2E"/>
          </a:solidFill>
          <a:ln/>
        </p:spPr>
      </p:sp>
      <p:sp>
        <p:nvSpPr>
          <p:cNvPr id="33" name="Text 26"/>
          <p:cNvSpPr/>
          <p:nvPr/>
        </p:nvSpPr>
        <p:spPr>
          <a:xfrm>
            <a:off x="4681728" y="4754880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OWL</a:t>
            </a:r>
            <a:pPr algn="ctr" indent="0" marL="0">
              <a:buNone/>
            </a:pPr>
            <a:r>
              <a:rPr lang="en-US" sz="900" dirty="0">
                <a:solidFill>
                  <a:srgbClr val="B8B3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one brain · your data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457200" y="5943600"/>
            <a:ext cx="11338560" cy="502920"/>
          </a:xfrm>
          <a:prstGeom prst="roundRect">
            <a:avLst>
              <a:gd name="adj" fmla="val 14545"/>
            </a:avLst>
          </a:prstGeom>
          <a:solidFill>
            <a:srgbClr val="1A1A2E"/>
          </a:solidFill>
          <a:ln/>
        </p:spPr>
      </p:sp>
      <p:sp>
        <p:nvSpPr>
          <p:cNvPr id="35" name="Text 28"/>
          <p:cNvSpPr/>
          <p:nvPr/>
        </p:nvSpPr>
        <p:spPr>
          <a:xfrm>
            <a:off x="731520" y="594360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8D4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 in the app, on WhatsApp, in ChatGPT or Claude, same Owl, same live data, same security boundary.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 ACT · Engage, the campaign engine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75488" y="56692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>
                    <a:alpha val="88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seeing a cohort to reaching it, in one click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051560"/>
            <a:ext cx="4062984" cy="41148"/>
          </a:xfrm>
          <a:prstGeom prst="rect">
            <a:avLst/>
          </a:prstGeom>
          <a:solidFill>
            <a:srgbClr val="FF385C"/>
          </a:solidFill>
          <a:ln/>
        </p:spPr>
      </p:sp>
      <p:sp>
        <p:nvSpPr>
          <p:cNvPr id="6" name="Shape 4"/>
          <p:cNvSpPr/>
          <p:nvPr/>
        </p:nvSpPr>
        <p:spPr>
          <a:xfrm>
            <a:off x="4062984" y="1051560"/>
            <a:ext cx="4062984" cy="4114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Shape 5"/>
          <p:cNvSpPr/>
          <p:nvPr/>
        </p:nvSpPr>
        <p:spPr>
          <a:xfrm>
            <a:off x="8125968" y="1051560"/>
            <a:ext cx="4062984" cy="411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Pulse</a:t>
            </a:r>
            <a:pPr indent="0" marL="0">
              <a:buNone/>
            </a:pPr>
            <a:r>
              <a:rPr lang="en-US" sz="900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flagship of the Howler Experience OS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howler-pulse-v2.onrender.com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141732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segments: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audiences from a dashboard tile, CSV or linked Google Sheet; union / intersect / exclude (abandoned carts minus already-called). Always current at send time.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5146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 &amp; SMS campaigns: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AI-drafted copy, drag-and-drop block builder, AI-designed layouts &amp; banners, merge fields, promo codes, full open/click tracking.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61188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Drip automations: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abandoned-cart journeys that catch new abandoners in real time, stop when someone buys, and show a per-step conversion waterfall.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09360" y="141732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Owl auto-pilot: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tap turns an AI suggestion into a drafted campaign; it still rides the normal review + approval gates.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09360" y="25146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Approvals &amp; consent built in: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nothing sends without explicit approval; POPIA-aware consent enforced per channel; send caps stop costly mistakes.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09360" y="361188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Ad-platform sync: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push a segment to Meta or TikTok as a Custom Audience (hashed, privacy-safe), auto-synced daily; see spend &amp; ROAS next to ticket sales.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892040"/>
            <a:ext cx="11338560" cy="914400"/>
          </a:xfrm>
          <a:prstGeom prst="roundRect">
            <a:avLst>
              <a:gd name="adj" fmla="val 10000"/>
            </a:avLst>
          </a:prstGeom>
          <a:solidFill>
            <a:srgbClr val="F6F1FF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98348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“Personalised, on-brand email + SMS to a precise audience, approval gates and real tracking, all from the same data.”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FF38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marketer’s dream, on one platform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75488" y="56692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>
                    <a:alpha val="88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audiences · journeys · ad platforms · creative · attribution, one live, governed dataset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051560"/>
            <a:ext cx="4062984" cy="41148"/>
          </a:xfrm>
          <a:prstGeom prst="rect">
            <a:avLst/>
          </a:prstGeom>
          <a:solidFill>
            <a:srgbClr val="FF385C"/>
          </a:solidFill>
          <a:ln/>
        </p:spPr>
      </p:sp>
      <p:sp>
        <p:nvSpPr>
          <p:cNvPr id="6" name="Shape 4"/>
          <p:cNvSpPr/>
          <p:nvPr/>
        </p:nvSpPr>
        <p:spPr>
          <a:xfrm>
            <a:off x="4062984" y="1051560"/>
            <a:ext cx="4062984" cy="4114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Shape 5"/>
          <p:cNvSpPr/>
          <p:nvPr/>
        </p:nvSpPr>
        <p:spPr>
          <a:xfrm>
            <a:off x="8125968" y="1051560"/>
            <a:ext cx="4062984" cy="411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Pulse</a:t>
            </a:r>
            <a:pPr indent="0" marL="0">
              <a:buNone/>
            </a:pPr>
            <a:r>
              <a:rPr lang="en-US" sz="900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flagship of the Howler Experience OS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howler-pulse-v2.onrender.com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417320"/>
            <a:ext cx="2103120" cy="594360"/>
          </a:xfrm>
          <a:prstGeom prst="roundRect">
            <a:avLst>
              <a:gd name="adj" fmla="val 15385"/>
            </a:avLst>
          </a:prstGeom>
          <a:solidFill>
            <a:srgbClr val="1A1A2E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41732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📡 LIVE DATA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542032" y="1417320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9D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852928" y="1417320"/>
            <a:ext cx="2103120" cy="594360"/>
          </a:xfrm>
          <a:prstGeom prst="roundRect">
            <a:avLst>
              <a:gd name="adj" fmla="val 15385"/>
            </a:avLst>
          </a:prstGeom>
          <a:solidFill>
            <a:srgbClr val="FF385C"/>
          </a:solidFill>
          <a:ln/>
        </p:spPr>
      </p:sp>
      <p:sp>
        <p:nvSpPr>
          <p:cNvPr id="15" name="Text 13"/>
          <p:cNvSpPr/>
          <p:nvPr/>
        </p:nvSpPr>
        <p:spPr>
          <a:xfrm>
            <a:off x="2852928" y="141732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🎯 AUDIENCES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937760" y="1417320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9D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248656" y="1417320"/>
            <a:ext cx="2103120" cy="594360"/>
          </a:xfrm>
          <a:prstGeom prst="roundRect">
            <a:avLst>
              <a:gd name="adj" fmla="val 15385"/>
            </a:avLst>
          </a:prstGeom>
          <a:solidFill>
            <a:srgbClr val="FF6B35"/>
          </a:solidFill>
          <a:ln/>
        </p:spPr>
      </p:sp>
      <p:sp>
        <p:nvSpPr>
          <p:cNvPr id="18" name="Text 16"/>
          <p:cNvSpPr/>
          <p:nvPr/>
        </p:nvSpPr>
        <p:spPr>
          <a:xfrm>
            <a:off x="5248656" y="141732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🗺 JOURNEYS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333488" y="1417320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9D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44384" y="1417320"/>
            <a:ext cx="2103120" cy="594360"/>
          </a:xfrm>
          <a:prstGeom prst="roundRect">
            <a:avLst>
              <a:gd name="adj" fmla="val 15385"/>
            </a:avLst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7644384" y="141732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📣 AD PLATFORMS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729216" y="1417320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9D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0040112" y="1417320"/>
            <a:ext cx="2103120" cy="594360"/>
          </a:xfrm>
          <a:prstGeom prst="roundRect">
            <a:avLst>
              <a:gd name="adj" fmla="val 15385"/>
            </a:avLst>
          </a:prstGeom>
          <a:solidFill>
            <a:srgbClr val="059669"/>
          </a:solidFill>
          <a:ln/>
        </p:spPr>
      </p:sp>
      <p:sp>
        <p:nvSpPr>
          <p:cNvPr id="24" name="Text 22"/>
          <p:cNvSpPr/>
          <p:nvPr/>
        </p:nvSpPr>
        <p:spPr>
          <a:xfrm>
            <a:off x="10040112" y="141732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💰 REVENUE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233172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Audiences that never go stale: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segments re-resolve live at send time; combine sources, subtract suppression lists, filter on any column.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33375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Complex journeys, simple setup: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timed multi-step email/SMS drips; true real-time abandoned-cart; buyers auto-exit; a per-step conversion waterfall.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4343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data → your ad accounts: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push segments to Meta/TikTok as Custom Audiences (hashed, mirrored daily); see spend, CPC and ROAS next to ticket sales.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09360" y="233172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AI creative studio inside: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Owl drafts copy, designs whole themed email layouts and draws on-brand banners; any campaign in any language.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09360" y="33375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Attribution you can defend: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per-recipient opens, clicks and tracked purchases; UTMs everywhere; unique-per-person promo codes tie a sale to a send.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309360" y="4343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Guardrails a CMO will love: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approval gates, POPIA-aware consent, one-click unsubscribe, audience &amp; SMS send caps.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5440680"/>
            <a:ext cx="11338560" cy="822960"/>
          </a:xfrm>
          <a:prstGeom prst="roundRect">
            <a:avLst>
              <a:gd name="adj" fmla="val 11111"/>
            </a:avLst>
          </a:prstGeom>
          <a:solidFill>
            <a:srgbClr val="F6F1FF"/>
          </a:solidFill>
          <a:ln/>
        </p:spPr>
      </p:sp>
      <p:sp>
        <p:nvSpPr>
          <p:cNvPr id="32" name="Text 30"/>
          <p:cNvSpPr/>
          <p:nvPr/>
        </p:nvSpPr>
        <p:spPr>
          <a:xfrm>
            <a:off x="731520" y="544068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“From seeing a cohort to a live journey, an ad audience and tracked revenue, without exporting a single CSV.”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🎪  RUN · the Event Ops command centre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75488" y="56692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>
                    <a:alpha val="88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gates, the bars, the devices, the data itself, one live board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051560"/>
            <a:ext cx="4062984" cy="41148"/>
          </a:xfrm>
          <a:prstGeom prst="rect">
            <a:avLst/>
          </a:prstGeom>
          <a:solidFill>
            <a:srgbClr val="FF385C"/>
          </a:solidFill>
          <a:ln/>
        </p:spPr>
      </p:sp>
      <p:sp>
        <p:nvSpPr>
          <p:cNvPr id="6" name="Shape 4"/>
          <p:cNvSpPr/>
          <p:nvPr/>
        </p:nvSpPr>
        <p:spPr>
          <a:xfrm>
            <a:off x="4062984" y="1051560"/>
            <a:ext cx="4062984" cy="4114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Shape 5"/>
          <p:cNvSpPr/>
          <p:nvPr/>
        </p:nvSpPr>
        <p:spPr>
          <a:xfrm>
            <a:off x="8125968" y="1051560"/>
            <a:ext cx="4062984" cy="411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Pulse</a:t>
            </a:r>
            <a:pPr indent="0" marL="0">
              <a:buNone/>
            </a:pPr>
            <a:r>
              <a:rPr lang="en-US" sz="900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flagship of the Howler Experience OS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howler-pulse-v2.onrender.com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137160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live site map: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venue’s own plan with every station pinned: heat shows where the crowd is spending right now; a dark station is flagged the moment its data stops.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395728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Bar &amp; operator performance: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bar and every bartender, live: sales and rands-per-hour per operator, who is flying and which till has gone quiet. The River view turns the night into flowing lanes.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419856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device tracked: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scan to move between store and stations; append-only audit trail; every device accounted for at event close.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315968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Connectivity &amp; data health: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stream watch per station and a roster of exactly which units are offline and for how long. Know a scanner died before the queue does.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5340096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Diagnose · live updates · alerts: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one-tap AI verdicts per station, a multi-metric mini report every 15–120 min while doors are open, and threshold alerts on any number.</a:t>
            </a:r>
            <a:endParaRPr lang="en-US" sz="1200" dirty="0"/>
          </a:p>
        </p:txBody>
      </p:sp>
      <p:pic>
        <p:nvPicPr>
          <p:cNvPr id="16" name="Image 0" descr="site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1417320"/>
            <a:ext cx="5577840" cy="1883664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172200" y="3319272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live site map: stations, heat and a dark station, on your own venue plan.</a:t>
            </a:r>
            <a:endParaRPr lang="en-US" sz="950" dirty="0"/>
          </a:p>
        </p:txBody>
      </p:sp>
      <p:pic>
        <p:nvPicPr>
          <p:cNvPr id="18" name="Image 1" descr="ri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3749040"/>
            <a:ext cx="5577840" cy="19659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172200" y="5742432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River, operators only: each lane is money flowing through one bartender’s till.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🔒  OWN · white-label, security &amp; openness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75488" y="56692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>
                    <a:alpha val="88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brand, your accounts, your data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051560"/>
            <a:ext cx="4062984" cy="41148"/>
          </a:xfrm>
          <a:prstGeom prst="rect">
            <a:avLst/>
          </a:prstGeom>
          <a:solidFill>
            <a:srgbClr val="FF385C"/>
          </a:solidFill>
          <a:ln/>
        </p:spPr>
      </p:sp>
      <p:sp>
        <p:nvSpPr>
          <p:cNvPr id="6" name="Shape 4"/>
          <p:cNvSpPr/>
          <p:nvPr/>
        </p:nvSpPr>
        <p:spPr>
          <a:xfrm>
            <a:off x="4062984" y="1051560"/>
            <a:ext cx="4062984" cy="4114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Shape 5"/>
          <p:cNvSpPr/>
          <p:nvPr/>
        </p:nvSpPr>
        <p:spPr>
          <a:xfrm>
            <a:off x="8125968" y="1051560"/>
            <a:ext cx="4062984" cy="411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Pulse</a:t>
            </a:r>
            <a:pPr indent="0" marL="0">
              <a:buNone/>
            </a:pPr>
            <a:r>
              <a:rPr lang="en-US" sz="900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flagship of the Howler Experience OS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howler-pulse-v2.onrender.com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141732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Fully white-label: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logo, colours and sender name everywhere; emails from your own domain once verified; even a vanity login page that feels like your product.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5146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language &amp; currency: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insights, briefings, digests and campaign copy in your reporting currency and your choice of language.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61188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by design (API + AI agents):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read-only, per-client API keys; point Claude or ChatGPT at your data via MCP. Your data is never locked in.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09360" y="141732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Watertight data scoping: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query is force-filtered to your events server-side; it cannot be bypassed and fails closed. One client can never see another’s data.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09360" y="25146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POPIA-minded by design: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per-channel consent, one-click unsubscribe, hashed identities for ad sync, no cross-client data pooling.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09360" y="361188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Self-service, with backup: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 everything yourself in Settings, or your Howler team does it for you. Your named contacts are one tap away.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892040"/>
            <a:ext cx="11338560" cy="914400"/>
          </a:xfrm>
          <a:prstGeom prst="roundRect">
            <a:avLst>
              <a:gd name="adj" fmla="val 10000"/>
            </a:avLst>
          </a:prstGeom>
          <a:solidFill>
            <a:srgbClr val="F6F1FF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98348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2D2B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“It’s their brand, their accounts, their data, Howler just powers it.”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FF38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Pulse, and not another tool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75488" y="56692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>
                    <a:alpha val="88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honest comparison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051560"/>
            <a:ext cx="4062984" cy="41148"/>
          </a:xfrm>
          <a:prstGeom prst="rect">
            <a:avLst/>
          </a:prstGeom>
          <a:solidFill>
            <a:srgbClr val="FF385C"/>
          </a:solidFill>
          <a:ln/>
        </p:spPr>
      </p:sp>
      <p:sp>
        <p:nvSpPr>
          <p:cNvPr id="6" name="Shape 4"/>
          <p:cNvSpPr/>
          <p:nvPr/>
        </p:nvSpPr>
        <p:spPr>
          <a:xfrm>
            <a:off x="4062984" y="1051560"/>
            <a:ext cx="4062984" cy="4114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Shape 5"/>
          <p:cNvSpPr/>
          <p:nvPr/>
        </p:nvSpPr>
        <p:spPr>
          <a:xfrm>
            <a:off x="8125968" y="1051560"/>
            <a:ext cx="4062984" cy="411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Pulse</a:t>
            </a:r>
            <a:pPr indent="0" marL="0">
              <a:buNone/>
            </a:pPr>
            <a:r>
              <a:rPr lang="en-US" sz="900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flagship of the Howler Experience OS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howler-pulse-v2.onrender.com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33856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4343400"/>
                <a:gridCol w="434340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D2B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If you’re using…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D2B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gap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D2B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 Pulse changes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556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Looker / Tableau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556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You see the problem, then export a CSV and switch tools to act on it.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556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See it and act on it in the same governed place, campaign, approval, result.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556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Mailchimp / Klaviyo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556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Audiences go stale the moment you upload them.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556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Audiences built from live ticketing data that re-resolve at send time.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556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Email + WhatsApp threads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556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Approvals, settlements and “did you see this?” get lost.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556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One inbox with read/ack trails; settlements that file themselves.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556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Gut feel on event night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556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You find out about problems when the queue does.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556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Alerts + live mini-reports every 30 minutes, on your phone.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457200" y="5623560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F38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Pulse isn’t another tool on the pile, it replaces the pile with a loop.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Howler One stack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75488" y="56692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>
                    <a:alpha val="88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experience, one dataset, one partner, Pulse is the brain of the whole thing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051560"/>
            <a:ext cx="4062984" cy="41148"/>
          </a:xfrm>
          <a:prstGeom prst="rect">
            <a:avLst/>
          </a:prstGeom>
          <a:solidFill>
            <a:srgbClr val="FF385C"/>
          </a:solidFill>
          <a:ln/>
        </p:spPr>
      </p:sp>
      <p:sp>
        <p:nvSpPr>
          <p:cNvPr id="6" name="Shape 4"/>
          <p:cNvSpPr/>
          <p:nvPr/>
        </p:nvSpPr>
        <p:spPr>
          <a:xfrm>
            <a:off x="4062984" y="1051560"/>
            <a:ext cx="4062984" cy="4114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Shape 5"/>
          <p:cNvSpPr/>
          <p:nvPr/>
        </p:nvSpPr>
        <p:spPr>
          <a:xfrm>
            <a:off x="8125968" y="1051560"/>
            <a:ext cx="4062984" cy="411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Pulse</a:t>
            </a:r>
            <a:pPr indent="0" marL="0">
              <a:buNone/>
            </a:pPr>
            <a:r>
              <a:rPr lang="en-US" sz="900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flagship of the Howler Experience OS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howler-pulse-v2.onrender.com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37160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FBFAFF"/>
          </a:solidFill>
          <a:ln w="12700">
            <a:solidFill>
              <a:srgbClr val="ECE9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46304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🎟 Ticketing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94360" y="1938528"/>
            <a:ext cx="2423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Ticket sales, tiers &amp; releases, access control and scanning, every buyer and every entry, captured from minute one.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536192" y="32004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89D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337560" y="137160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FBFAFF"/>
          </a:solidFill>
          <a:ln w="12700">
            <a:solidFill>
              <a:srgbClr val="ECE9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0" y="146304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💳 Cashless Payments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474720" y="1938528"/>
            <a:ext cx="2423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Tap-to-pay across bars and vendors: faster queues, higher spend, zero cash risk, every transaction is live data.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416552" y="32004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89D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217920" y="137160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FBFAFF"/>
          </a:solidFill>
          <a:ln w="12700">
            <a:solidFill>
              <a:srgbClr val="ECE9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146304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📱 SuperApp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355080" y="1938528"/>
            <a:ext cx="2423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fan’s companion: tickets, top-ups, line-ups and offers in one place, an ownable channel to every attendee.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296912" y="32004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89D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098280" y="137160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FBFAFF"/>
          </a:solidFill>
          <a:ln w="12700">
            <a:solidFill>
              <a:srgbClr val="ECE9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35440" y="146304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🍾 VIP Table Management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9235440" y="1938528"/>
            <a:ext cx="2423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Table inventory, bookings and minimum spends, hosted service, your highest-value guests, managed and measured.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0177272" y="32004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89D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457200" y="3611880"/>
            <a:ext cx="11338560" cy="1143000"/>
          </a:xfrm>
          <a:prstGeom prst="roundRect">
            <a:avLst>
              <a:gd name="adj" fmla="val 9600"/>
            </a:avLst>
          </a:prstGeom>
          <a:solidFill>
            <a:srgbClr val="1A1A2E"/>
          </a:solidFill>
          <a:ln/>
        </p:spPr>
      </p:sp>
      <p:pic>
        <p:nvPicPr>
          <p:cNvPr id="28" name="Image 0" descr="owl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3794760"/>
            <a:ext cx="777240" cy="77724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1691640" y="3703320"/>
            <a:ext cx="9875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Pulse: the brain of the stack.  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D8D4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ticket scanned, every tap at a bar, every SuperApp session and every VIP booking flows into one governed dataset, where the Owl reads it, your team acts on it, and the results come back measured.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457200" y="4791456"/>
            <a:ext cx="11338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2D2B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STACK  ·  ONE DATASET  ·  ONE BRAND EXPERIENCE  ·  ONE PARTNER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457200" y="5193792"/>
            <a:ext cx="3657600" cy="1133856"/>
          </a:xfrm>
          <a:prstGeom prst="roundRect">
            <a:avLst>
              <a:gd name="adj" fmla="val 8065"/>
            </a:avLst>
          </a:prstGeom>
          <a:solidFill>
            <a:srgbClr val="FF385C"/>
          </a:solidFill>
          <a:ln/>
        </p:spPr>
      </p:sp>
      <p:sp>
        <p:nvSpPr>
          <p:cNvPr id="32" name="Text 29"/>
          <p:cNvSpPr/>
          <p:nvPr/>
        </p:nvSpPr>
        <p:spPr>
          <a:xfrm>
            <a:off x="594360" y="5248656"/>
            <a:ext cx="3401568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Better together: The bar
</a:t>
            </a:r>
            <a:pPr indent="0" marL="0">
              <a:lnSpc>
                <a:spcPts val="1080"/>
              </a:lnSpc>
              <a:buNone/>
            </a:pPr>
            <a:r>
              <a:rPr lang="en-US" sz="860" dirty="0">
                <a:solidFill>
                  <a:srgbClr val="FFFFFF">
                    <a:alpha val="94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Cashless spots the Main Bar spiking; the heat map shows the hotspot; the Owl suggests moving two devices, while the night is young.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4297680" y="5193792"/>
            <a:ext cx="3657600" cy="1133856"/>
          </a:xfrm>
          <a:prstGeom prst="roundRect">
            <a:avLst>
              <a:gd name="adj" fmla="val 8065"/>
            </a:avLst>
          </a:prstGeom>
          <a:solidFill>
            <a:srgbClr val="FF6B35"/>
          </a:solidFill>
          <a:ln/>
        </p:spPr>
      </p:sp>
      <p:sp>
        <p:nvSpPr>
          <p:cNvPr id="34" name="Text 31"/>
          <p:cNvSpPr/>
          <p:nvPr/>
        </p:nvSpPr>
        <p:spPr>
          <a:xfrm>
            <a:off x="4434840" y="5248656"/>
            <a:ext cx="3401568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Better together: The fan
</a:t>
            </a:r>
            <a:pPr indent="0" marL="0">
              <a:lnSpc>
                <a:spcPts val="1080"/>
              </a:lnSpc>
              <a:buNone/>
            </a:pPr>
            <a:r>
              <a:rPr lang="en-US" sz="860" dirty="0">
                <a:solidFill>
                  <a:srgbClr val="FFFFFF">
                    <a:alpha val="94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Ticket + top-ups + bar spend stitched into one picture, your next campaign targets big spenders who haven’t rebought yet.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8138160" y="5193792"/>
            <a:ext cx="3657600" cy="1133856"/>
          </a:xfrm>
          <a:prstGeom prst="roundRect">
            <a:avLst>
              <a:gd name="adj" fmla="val 8065"/>
            </a:avLst>
          </a:prstGeom>
          <a:solidFill>
            <a:srgbClr val="7C3AED"/>
          </a:solidFill>
          <a:ln/>
        </p:spPr>
      </p:sp>
      <p:sp>
        <p:nvSpPr>
          <p:cNvPr id="36" name="Text 33"/>
          <p:cNvSpPr/>
          <p:nvPr/>
        </p:nvSpPr>
        <p:spPr>
          <a:xfrm>
            <a:off x="8275320" y="5248656"/>
            <a:ext cx="3401568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Better together: The VIP
</a:t>
            </a:r>
            <a:pPr indent="0" marL="0">
              <a:lnSpc>
                <a:spcPts val="1080"/>
              </a:lnSpc>
              <a:buNone/>
            </a:pPr>
            <a:r>
              <a:rPr lang="en-US" sz="860" dirty="0">
                <a:solidFill>
                  <a:srgbClr val="FFFFFF">
                    <a:alpha val="94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Pulse knows who your table guests are, what they spent and when they went quiet, next season’s invitation writes itself.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2984" cy="109728"/>
          </a:xfrm>
          <a:prstGeom prst="rect">
            <a:avLst/>
          </a:prstGeom>
          <a:solidFill>
            <a:srgbClr val="FF385C"/>
          </a:solidFill>
          <a:ln/>
        </p:spPr>
      </p:sp>
      <p:sp>
        <p:nvSpPr>
          <p:cNvPr id="3" name="Shape 1"/>
          <p:cNvSpPr/>
          <p:nvPr/>
        </p:nvSpPr>
        <p:spPr>
          <a:xfrm>
            <a:off x="4062984" y="0"/>
            <a:ext cx="4062984" cy="10972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Shape 2"/>
          <p:cNvSpPr/>
          <p:nvPr/>
        </p:nvSpPr>
        <p:spPr>
          <a:xfrm>
            <a:off x="8125968" y="0"/>
            <a:ext cx="4062984" cy="109728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5" name="Image 0" descr="howler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02920"/>
            <a:ext cx="777240" cy="777240"/>
          </a:xfrm>
          <a:prstGeom prst="ellipse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3716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pitch, in one line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822960" y="228600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D8D4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 what’s happening, act on it, and prove the results, on your phone, in your brand, without exporting to five tools.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22960" y="338328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Insight → action → results → improvement, on a loop, in one governed place.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822960" y="4480560"/>
            <a:ext cx="5120640" cy="685800"/>
          </a:xfrm>
          <a:prstGeom prst="roundRect">
            <a:avLst>
              <a:gd name="adj" fmla="val 49333"/>
            </a:avLst>
          </a:prstGeom>
          <a:solidFill>
            <a:srgbClr val="FF385C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4480560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 your Howler AM for a live demo  →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22960" y="5760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A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howler-pulse-v2.onrender.com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2026-07-12T16:54:19Z</dcterms:created>
  <dcterms:modified xsi:type="dcterms:W3CDTF">2026-07-12T16:54:19Z</dcterms:modified>
</cp:coreProperties>
</file>